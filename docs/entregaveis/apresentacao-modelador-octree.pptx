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557be4d-dd89-0d7d-c40a-3e2293527862}">
          <p14:sldIdLst>
            <p14:sldId id="256"/>
          </p14:sldIdLst>
        </p14:section>
        <p14:section name="Visão geral" id="{c476f218-ecf0-b39c-1c94-3403e940c4eb}">
          <p14:sldIdLst>
            <p14:sldId id="257"/>
          </p14:sldIdLst>
        </p14:section>
        <p14:section name="Representação" id="{26235722-4ff6-f700-e1d1-7553cab794b6}">
          <p14:sldIdLst>
            <p14:sldId id="258"/>
            <p14:sldId id="259"/>
          </p14:sldIdLst>
        </p14:section>
        <p14:section name="Modelagem" id="{cd4b72b4-c07e-d3ec-b467-6dc837adbbc6}">
          <p14:sldIdLst>
            <p14:sldId id="260"/>
            <p14:sldId id="261"/>
            <p14:sldId id="262"/>
            <p14:sldId id="263"/>
          </p14:sldIdLst>
        </p14:section>
        <p14:section name="Visualização" id="{a216b1ce-bfcb-d112-7d42-84e65b5041d7}">
          <p14:sldIdLst>
            <p14:sldId id="264"/>
            <p14:sldId id="265"/>
          </p14:sldIdLst>
        </p14:section>
        <p14:section name="Arquivos" id="{7fea938f-a962-518f-db23-a2b49c369478}">
          <p14:sldIdLst>
            <p14:sldId id="266"/>
          </p14:sldIdLst>
        </p14:section>
        <p14:section name="Tema" id="{80f81b25-36b6-7724-0091-0e9fea57573d}">
          <p14:sldIdLst>
            <p14:sldId id="267"/>
          </p14:sldIdLst>
        </p14:section>
        <p14:section name="Engenharia" id="{251ef7c3-bd5d-9e06-37f7-648e86b3f096}">
          <p14:sldIdLst>
            <p14:sldId id="268"/>
          </p14:sldIdLst>
        </p14:section>
        <p14:section name="Encerramento" id="{8a59cf0f-ba22-6dd7-ae2d-1b87ad79110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a equipe e dizer em uma frase o que é o projeto: um modelador que constrói, combina, transforma, mede e desenha sólidos representados por octrees. O carro da capa é o tema do grupo, montado e aberto no próprio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organização da tela. À esquerda ficam a lista de modelos, a profundidade usada nas próximas criações e as três abas. À direita, os cartões com as medidas e a visualização do modelo selecionado. Nada é sobrescrito: união, escala e as demais operações acrescentam um modelo novo, então dá para voltar a qualquer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estados vêm da aula: branco, preto e cinza. No código, B e W são sempre folhas e ( sempre tem oito filhos. A numeração dos octantes é a mesma da aula e vale para tudo: construção, operações, desenho e arquivo. Sem ela, a mesma string DF viraria outro sólido em outro modelador.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construção segue o algoritmo do slide 10 da aula de octree. Cada primitiva tem um classificador próprio que responde se a célula está fora, dentro ou cortando a primitiva. Encostar só na fronteira conta como fora. A janela à direita mostra a árvore do Escort: as caixas âmbar são nós parciais e as azuis são folhas cheias.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alinhado aos eixos, esfera e cilindro alinhado a X, Y ou Z. Para classificar a esfera comparamos o raio com o ponto da célula mais próximo e o mais distante do centro. O cilindro faz o mesmo na seção transversal e compara intervalos ao longo do eixo, como 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casos entre folhas resolvem tudo sem descer: B com qualquer coisa na união dá B, W na interseção dá W. Quando um lado é folha e o outro é parcial, copiamos a subárvore ou devolvemos a folha. As árvores podem ter profundidades diferentes; o resultado fica com a maior. Exemplo da esquerda: o Escort unido a uma cópia dele mesmo em escala 0,5, deslocada para 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imagens usam o mesmo enquadramento do domínio, então dá para ver o carro encolher e depois andar para o lado. Escala e translação compartilham o código: muda só a transformação aplicada no centro e no lado de cada célula. A reamostragem engorda um pouco o modelo: um oitavo do Escort daria 0,069 u³, a cópia em escala 0,5 ficou com 0,080 u³ e, depois de deslocada para fora da grade, com 0,093 u³.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do Escort na profundidade 7, lidos dos cartões da interface. O volume é exato para as células representadas, não para o carro ideal. A área também é a do contorno em degraus, por isso não converge para a área de uma superfície curva quando a profundidade aumenta. A mesma rotina de faces expostas alimenta o modo sólido.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aramado é o modo padrão e desenha as folhas cheias com GL_LINES. Ele mostra as arestas internas, o que embola modelos detalhados. O sólido gera só as partes visíveis das faces e desenha as arestas por cima. Com iluminação, cada vértice recebe a cor do modelo de Phong, com a luz acima e à esquerda do observador.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janela foi feita para inspecionar a própria estrutura, não só o sólido. A tabela conta os nós por nível a partir do nó em foco, e a cena desenha as caixas até o nível escolhido. Os vazios podem ser escondidos para não poluir a 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arquivo é só a string em profundidade primeiro, como na aula. Domínio e profundidade não vão no arquivo; são convenção comum. Um detalhe prático: para abrir o Escort é preciso pôr a profundidade em 7 antes, senão o programa recusa por excesso de profundidade.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Escolhemos o Escort no começo do trabalho, sabendo que um carro é difícil de fazer só com bloco, esfera e cilindro. O modelo foi gerado por um script que percorre a grade de 64 células por eixo e marca as células ocupadas pela carroceria, pela cabine, pelas rodas e pelos para-choques. No arquivo, X é o comprimento com a frente em +X, Y é a altura e Z a largura.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núcleo não conhece GLFW, OpenGL nem ImGui. Por isso os testes rodam sem abrir janela. A aplicação traduz os cliques em chamadas ao núcleo e guarda os modelos como octrees imutáveis. A renderização só recebe segmentos e faces já calculados.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e abrir para perguntas. Depois, demonstração ao vivo: profundidade 7, abrir ford-escort-p7.df, ligar sólido e iluminação, abrir a estrutura da octree e aplicar uma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OCTREE · modelador geométrico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d Escort iluminado" descr="Ford Escort em octree, modo sólido com ilumin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02920"/>
            <a:ext cx="5120640" cy="35844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 GEOMÉTRICA · UFC ·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Modelador de octrees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Sólidos por subdivisão espacial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Gabriel Lima Florindo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Ítalo de Almeida Campos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Henrique Moura da Silva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Vinicius Pereira Araujo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Melo Jucá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Visão Geral</a:t>
            </a:r>
            <a:endParaRPr lang="en-US" sz="2600" dirty="0"/>
          </a:p>
        </p:txBody>
      </p:sp>
      <p:sp>
        <p:nvSpPr>
          <p:cNvPr id="4" name="moldura interface"/>
          <p:cNvSpPr/>
          <p:nvPr/>
        </p:nvSpPr>
        <p:spPr>
          <a:xfrm>
            <a:off x="457200" y="128016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5" name="interface completa" descr="Tela do modelador com o Escort aber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44168"/>
            <a:ext cx="5120640" cy="2670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490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gera um modelo novo e mantém os originais na lista.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157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Bloco, esfera e cilindro.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4597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União, interseção, escala e translação.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2953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ARQUIVO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145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 salva octrees no formato DF.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447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MEDIDAS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área e número de células cheias.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941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VISUALIZAÇÃO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4133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Aramado, sólido, iluminação e estrutura da octree.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 DE DADOS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Representação da Octree</a:t>
            </a:r>
            <a:endParaRPr lang="en-US" sz="2600" dirty="0"/>
          </a:p>
        </p:txBody>
      </p:sp>
      <p:sp>
        <p:nvSpPr>
          <p:cNvPr id="4" name="estado cheio"/>
          <p:cNvSpPr/>
          <p:nvPr/>
        </p:nvSpPr>
        <p:spPr>
          <a:xfrm>
            <a:off x="457200" y="13258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5" name="simbolo cheio"/>
          <p:cNvSpPr/>
          <p:nvPr/>
        </p:nvSpPr>
        <p:spPr>
          <a:xfrm>
            <a:off x="621792" y="148132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F2B3B"/>
          </a:solidFill>
          <a:ln w="15875">
            <a:solidFill>
              <a:srgbClr val="59C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453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7373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totalmente dentro do sólido.</a:t>
            </a:r>
            <a:endParaRPr lang="en-US" sz="1200" dirty="0"/>
          </a:p>
        </p:txBody>
      </p:sp>
      <p:sp>
        <p:nvSpPr>
          <p:cNvPr id="9" name="estado vazio"/>
          <p:cNvSpPr/>
          <p:nvPr/>
        </p:nvSpPr>
        <p:spPr>
          <a:xfrm>
            <a:off x="457200" y="22860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0" name="simbolo vazio"/>
          <p:cNvSpPr/>
          <p:nvPr/>
        </p:nvSpPr>
        <p:spPr>
          <a:xfrm>
            <a:off x="621792" y="244144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F2B3B"/>
          </a:solidFill>
          <a:ln w="15875">
            <a:solidFill>
              <a:srgbClr val="5C7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4140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vazio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697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totalmente fora.</a:t>
            </a:r>
            <a:endParaRPr lang="en-US" sz="1200" dirty="0"/>
          </a:p>
        </p:txBody>
      </p:sp>
      <p:sp>
        <p:nvSpPr>
          <p:cNvPr id="14" name="estado parcial"/>
          <p:cNvSpPr/>
          <p:nvPr/>
        </p:nvSpPr>
        <p:spPr>
          <a:xfrm>
            <a:off x="457200" y="324612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5" name="simbolo parcial"/>
          <p:cNvSpPr/>
          <p:nvPr/>
        </p:nvSpPr>
        <p:spPr>
          <a:xfrm>
            <a:off x="621792" y="340156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F2B3B"/>
          </a:solidFill>
          <a:ln w="15875">
            <a:solidFill>
              <a:srgbClr val="F5B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374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parcial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6576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interno com exatamente oito filhos.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325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ORDEM DOS FILHOS · ÍNDICE = x + 2z + 4y</a:t>
            </a:r>
            <a:endParaRPr lang="en-US" sz="900" dirty="0"/>
          </a:p>
        </p:txBody>
      </p:sp>
      <p:sp>
        <p:nvSpPr>
          <p:cNvPr id="20" name="octante 0"/>
          <p:cNvSpPr/>
          <p:nvPr/>
        </p:nvSpPr>
        <p:spPr>
          <a:xfrm>
            <a:off x="4663440" y="16002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16550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029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y0 z0</a:t>
            </a:r>
            <a:endParaRPr lang="en-US" sz="900" dirty="0"/>
          </a:p>
        </p:txBody>
      </p:sp>
      <p:sp>
        <p:nvSpPr>
          <p:cNvPr id="23" name="octante 1"/>
          <p:cNvSpPr/>
          <p:nvPr/>
        </p:nvSpPr>
        <p:spPr>
          <a:xfrm>
            <a:off x="5669280" y="16002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0" y="16550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029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 y0 z0</a:t>
            </a:r>
            <a:endParaRPr lang="en-US" sz="900" dirty="0"/>
          </a:p>
        </p:txBody>
      </p:sp>
      <p:sp>
        <p:nvSpPr>
          <p:cNvPr id="26" name="octante 2"/>
          <p:cNvSpPr/>
          <p:nvPr/>
        </p:nvSpPr>
        <p:spPr>
          <a:xfrm>
            <a:off x="6675120" y="16002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16550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2029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y0 z1</a:t>
            </a:r>
            <a:endParaRPr lang="en-US" sz="900" dirty="0"/>
          </a:p>
        </p:txBody>
      </p:sp>
      <p:sp>
        <p:nvSpPr>
          <p:cNvPr id="29" name="octante 3"/>
          <p:cNvSpPr/>
          <p:nvPr/>
        </p:nvSpPr>
        <p:spPr>
          <a:xfrm>
            <a:off x="7680960" y="16002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0" y="16550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2029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 y0 z1</a:t>
            </a:r>
            <a:endParaRPr lang="en-US" sz="900" dirty="0"/>
          </a:p>
        </p:txBody>
      </p:sp>
      <p:sp>
        <p:nvSpPr>
          <p:cNvPr id="32" name="octante 4"/>
          <p:cNvSpPr/>
          <p:nvPr/>
        </p:nvSpPr>
        <p:spPr>
          <a:xfrm>
            <a:off x="4663440" y="246888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63440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2898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y1 z0</a:t>
            </a:r>
            <a:endParaRPr lang="en-US" sz="900" dirty="0"/>
          </a:p>
        </p:txBody>
      </p:sp>
      <p:sp>
        <p:nvSpPr>
          <p:cNvPr id="35" name="octante 5"/>
          <p:cNvSpPr/>
          <p:nvPr/>
        </p:nvSpPr>
        <p:spPr>
          <a:xfrm>
            <a:off x="5669280" y="246888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0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2898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 y1 z0</a:t>
            </a:r>
            <a:endParaRPr lang="en-US" sz="900" dirty="0"/>
          </a:p>
        </p:txBody>
      </p:sp>
      <p:sp>
        <p:nvSpPr>
          <p:cNvPr id="38" name="octante 6"/>
          <p:cNvSpPr/>
          <p:nvPr/>
        </p:nvSpPr>
        <p:spPr>
          <a:xfrm>
            <a:off x="6675120" y="246888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0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2898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y1 z1</a:t>
            </a:r>
            <a:endParaRPr lang="en-US" sz="900" dirty="0"/>
          </a:p>
        </p:txBody>
      </p:sp>
      <p:sp>
        <p:nvSpPr>
          <p:cNvPr id="41" name="octante 7"/>
          <p:cNvSpPr/>
          <p:nvPr/>
        </p:nvSpPr>
        <p:spPr>
          <a:xfrm>
            <a:off x="7680960" y="246888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80960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7680960" y="2898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 y1 z1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663440" y="34290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PERCURSO EM PROFUNDIDADE (DF)</a:t>
            </a:r>
            <a:endParaRPr lang="en-US" sz="900" dirty="0"/>
          </a:p>
        </p:txBody>
      </p:sp>
      <p:sp>
        <p:nvSpPr>
          <p:cNvPr id="45" name="exemplo DF"/>
          <p:cNvSpPr/>
          <p:nvPr/>
        </p:nvSpPr>
        <p:spPr>
          <a:xfrm>
            <a:off x="4663440" y="365760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1F2B3B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0060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(BWWBBW(BWWBBBWWB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251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[-1, 1]³. Bit 0 é a metade inferior do eixo, bit 1 a superior.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Construção da Octree</a:t>
            </a:r>
            <a:endParaRPr lang="en-US" sz="2600" dirty="0"/>
          </a:p>
        </p:txBody>
      </p:sp>
      <p:sp>
        <p:nvSpPr>
          <p:cNvPr id="4" name="passo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A6370"/>
          </a:solidFill>
          <a:ln w="12700">
            <a:solidFill>
              <a:srgbClr val="5EDB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550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célula é comparada com a primitiva: fora, dentro ou cortando a fronteira.</a:t>
            </a:r>
            <a:endParaRPr lang="en-US" sz="1200" dirty="0"/>
          </a:p>
        </p:txBody>
      </p:sp>
      <p:sp>
        <p:nvSpPr>
          <p:cNvPr id="8" name="passo 2"/>
          <p:cNvSpPr/>
          <p:nvPr/>
        </p:nvSpPr>
        <p:spPr>
          <a:xfrm>
            <a:off x="457200" y="2395728"/>
            <a:ext cx="457200" cy="457200"/>
          </a:xfrm>
          <a:prstGeom prst="ellipse">
            <a:avLst/>
          </a:prstGeom>
          <a:solidFill>
            <a:srgbClr val="1A6370"/>
          </a:solidFill>
          <a:ln w="12700">
            <a:solidFill>
              <a:srgbClr val="5EDB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50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791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vira W, dentro vira B. Só a célula parcial é dividida em oito.</a:t>
            </a:r>
            <a:endParaRPr lang="en-US" sz="1200" dirty="0"/>
          </a:p>
        </p:txBody>
      </p:sp>
      <p:sp>
        <p:nvSpPr>
          <p:cNvPr id="12" name="passo 3"/>
          <p:cNvSpPr/>
          <p:nvPr/>
        </p:nvSpPr>
        <p:spPr>
          <a:xfrm>
            <a:off x="457200" y="3419856"/>
            <a:ext cx="457200" cy="457200"/>
          </a:xfrm>
          <a:prstGeom prst="ellipse">
            <a:avLst/>
          </a:prstGeom>
          <a:solidFill>
            <a:srgbClr val="1A6370"/>
          </a:solidFill>
          <a:ln w="12700">
            <a:solidFill>
              <a:srgbClr val="5E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374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03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recursão acaba no limite de profundidade, de 1 a 8 na interface.</a:t>
            </a:r>
            <a:endParaRPr lang="en-US" sz="1200" dirty="0"/>
          </a:p>
        </p:txBody>
      </p:sp>
      <p:sp>
        <p:nvSpPr>
          <p:cNvPr id="16" name="quadro estrutura-raiz"/>
          <p:cNvSpPr/>
          <p:nvPr/>
        </p:nvSpPr>
        <p:spPr>
          <a:xfrm>
            <a:off x="4343400" y="1234440"/>
            <a:ext cx="4343400" cy="3246120"/>
          </a:xfrm>
          <a:prstGeom prst="roundRect">
            <a:avLst>
              <a:gd name="adj" fmla="val 2254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17" name="estrutura-raiz" descr="Escort na profundidade 7: 8.281 nós, 1.035 parcia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1536" y="1280160"/>
            <a:ext cx="4187129" cy="2770632"/>
          </a:xfrm>
          <a:prstGeom prst="rect">
            <a:avLst/>
          </a:prstGeom>
        </p:spPr>
      </p:pic>
      <p:sp>
        <p:nvSpPr>
          <p:cNvPr id="18" name="legenda estrutura-raiz"/>
          <p:cNvSpPr txBox="1"/>
          <p:nvPr/>
        </p:nvSpPr>
        <p:spPr>
          <a:xfrm>
            <a:off x="4480560" y="41148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Escort na profundidade 7: 8.281 nós, 1.035 parciais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Primitivas Implementadas</a:t>
            </a:r>
            <a:endParaRPr lang="en-US" sz="2600" dirty="0"/>
          </a:p>
        </p:txBody>
      </p:sp>
      <p:sp>
        <p:nvSpPr>
          <p:cNvPr id="4" name="primitiva Bloco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5" name="Bloco" descr="Bloco em oc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103120" cy="19278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30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e três lados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 × 1,5 × 0,75</a:t>
            </a:r>
            <a:endParaRPr lang="en-US" sz="900" dirty="0"/>
          </a:p>
        </p:txBody>
      </p:sp>
      <p:sp>
        <p:nvSpPr>
          <p:cNvPr id="9" name="primitiva Esfera"/>
          <p:cNvSpPr/>
          <p:nvPr/>
        </p:nvSpPr>
        <p:spPr>
          <a:xfrm>
            <a:off x="3246120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10" name="Esfera" descr="Esfera em oct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25880"/>
            <a:ext cx="2103120" cy="19278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Esfera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3630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e raio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raio 0,7 · profundidade 6</a:t>
            </a:r>
            <a:endParaRPr lang="en-US" sz="900" dirty="0"/>
          </a:p>
        </p:txBody>
      </p:sp>
      <p:sp>
        <p:nvSpPr>
          <p:cNvPr id="14" name="primitiva Cilindro"/>
          <p:cNvSpPr/>
          <p:nvPr/>
        </p:nvSpPr>
        <p:spPr>
          <a:xfrm>
            <a:off x="6035040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15" name="Cilindro" descr="Cilindro em octr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2103120" cy="19278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Cilindro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630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centro, raio, altura e eixo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raio 0,45 · altura 1,4 · eixo 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 · DOIS MODELOS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União e interseção</a:t>
            </a:r>
            <a:endParaRPr lang="en-US" sz="2600" dirty="0"/>
          </a:p>
        </p:txBody>
      </p:sp>
      <p:sp>
        <p:nvSpPr>
          <p:cNvPr id="4" name="quadro uniao"/>
          <p:cNvSpPr/>
          <p:nvPr/>
        </p:nvSpPr>
        <p:spPr>
          <a:xfrm>
            <a:off x="457200" y="128016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5" name="uniao" descr="Escort ∪ Escort reduzido e desloc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43" y="1325880"/>
            <a:ext cx="3174274" cy="2221992"/>
          </a:xfrm>
          <a:prstGeom prst="rect">
            <a:avLst/>
          </a:prstGeom>
        </p:spPr>
      </p:pic>
      <p:sp>
        <p:nvSpPr>
          <p:cNvPr id="6" name="legenda uniao"/>
          <p:cNvSpPr txBox="1"/>
          <p:nvPr/>
        </p:nvSpPr>
        <p:spPr>
          <a:xfrm>
            <a:off x="5943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Escort ∪ Escort reduzido e deslocado</a:t>
            </a:r>
            <a:endParaRPr lang="en-US" sz="1000" dirty="0"/>
          </a:p>
        </p:txBody>
      </p:sp>
      <p:sp>
        <p:nvSpPr>
          <p:cNvPr id="7" name="quadro intersecao"/>
          <p:cNvSpPr/>
          <p:nvPr/>
        </p:nvSpPr>
        <p:spPr>
          <a:xfrm>
            <a:off x="4663440" y="128016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8" name="intersecao" descr="esfera r = 0,7 ∩ bloco 1,0 × 1,5 × 0,7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124" y="1325880"/>
            <a:ext cx="2423991" cy="2221992"/>
          </a:xfrm>
          <a:prstGeom prst="rect">
            <a:avLst/>
          </a:prstGeom>
        </p:spPr>
      </p:pic>
      <p:sp>
        <p:nvSpPr>
          <p:cNvPr id="9" name="legenda intersecao"/>
          <p:cNvSpPr txBox="1"/>
          <p:nvPr/>
        </p:nvSpPr>
        <p:spPr>
          <a:xfrm>
            <a:off x="480060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esfera r = 0,7 ∩ bloco 1,0 × 1,5 × 0,75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096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árvores são percorridas juntas, de cima para baixo.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E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união, B domina; na interseção, W domina.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nós parciais descem pelos oito filhos, e oito filhos iguais viram uma folha.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 · MODELO SELECIONADO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 e translação</a:t>
            </a:r>
            <a:endParaRPr lang="en-US" sz="2600" dirty="0"/>
          </a:p>
        </p:txBody>
      </p:sp>
      <p:sp>
        <p:nvSpPr>
          <p:cNvPr id="4" name="quadro escala"/>
          <p:cNvSpPr/>
          <p:nvPr/>
        </p:nvSpPr>
        <p:spPr>
          <a:xfrm>
            <a:off x="457200" y="128016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5" name="escala" descr="escala 0,5 em torno da orig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43" y="1325880"/>
            <a:ext cx="3174274" cy="2221992"/>
          </a:xfrm>
          <a:prstGeom prst="rect">
            <a:avLst/>
          </a:prstGeom>
        </p:spPr>
      </p:pic>
      <p:sp>
        <p:nvSpPr>
          <p:cNvPr id="6" name="legenda escala"/>
          <p:cNvSpPr txBox="1"/>
          <p:nvPr/>
        </p:nvSpPr>
        <p:spPr>
          <a:xfrm>
            <a:off x="5943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 0,5 em torno da origem</a:t>
            </a:r>
            <a:endParaRPr lang="en-US" sz="1000" dirty="0"/>
          </a:p>
        </p:txBody>
      </p:sp>
      <p:sp>
        <p:nvSpPr>
          <p:cNvPr id="7" name="quadro translacao"/>
          <p:cNvSpPr/>
          <p:nvPr/>
        </p:nvSpPr>
        <p:spPr>
          <a:xfrm>
            <a:off x="4663440" y="128016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8" name="translacao" descr="deslocamento (-0,3; -0,25; 0,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983" y="1325880"/>
            <a:ext cx="3174274" cy="2221992"/>
          </a:xfrm>
          <a:prstGeom prst="rect">
            <a:avLst/>
          </a:prstGeom>
        </p:spPr>
      </p:pic>
      <p:sp>
        <p:nvSpPr>
          <p:cNvPr id="9" name="legenda translacao"/>
          <p:cNvSpPr txBox="1"/>
          <p:nvPr/>
        </p:nvSpPr>
        <p:spPr>
          <a:xfrm>
            <a:off x="480060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deslocamento (-0,3; -0,25; 0,6)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096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folha cheia é transformada como um cubo e a ocupação é reconstruída no mesmo domínio. Se o resultado sair do domínio, a operação é recusada em vez de cortar o modelo.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ANÁLISE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Propriedades Geométricas</a:t>
            </a:r>
            <a:endParaRPr lang="en-US" sz="2600" dirty="0"/>
          </a:p>
        </p:txBody>
      </p:sp>
      <p:sp>
        <p:nvSpPr>
          <p:cNvPr id="4" name="cartao Volume"/>
          <p:cNvSpPr/>
          <p:nvPr/>
        </p:nvSpPr>
        <p:spPr>
          <a:xfrm>
            <a:off x="45720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63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0,5528</a:t>
            </a:r>
            <a:pPr indent="0" marL="0">
              <a:buNone/>
            </a:pPr>
            <a:r>
              <a:rPr lang="en-US" sz="14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u³</a:t>
            </a:r>
            <a:endParaRPr lang="en-US" sz="2800" dirty="0"/>
          </a:p>
        </p:txBody>
      </p:sp>
      <p:sp>
        <p:nvSpPr>
          <p:cNvPr id="7" name="cartao Área superficial"/>
          <p:cNvSpPr/>
          <p:nvPr/>
        </p:nvSpPr>
        <p:spPr>
          <a:xfrm>
            <a:off x="326898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33572" y="1463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ÁREA SUPERFICIAL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433572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7,2559</a:t>
            </a:r>
            <a:pPr indent="0" marL="0">
              <a:buNone/>
            </a:pPr>
            <a:r>
              <a:rPr lang="en-US" sz="14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u²</a:t>
            </a:r>
            <a:endParaRPr lang="en-US" sz="2800" dirty="0"/>
          </a:p>
        </p:txBody>
      </p:sp>
      <p:sp>
        <p:nvSpPr>
          <p:cNvPr id="10" name="cartao Células cheias"/>
          <p:cNvSpPr/>
          <p:nvPr/>
        </p:nvSpPr>
        <p:spPr>
          <a:xfrm>
            <a:off x="608076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45352" y="14630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CÉLULAS CHEIAS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3.470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3" name="explica volume"/>
          <p:cNvSpPr/>
          <p:nvPr/>
        </p:nvSpPr>
        <p:spPr>
          <a:xfrm>
            <a:off x="457200" y="2560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443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 recursivo: folha W soma zero, folha B soma o cubo do seu lado e nó parcial soma os oito filhos.</a:t>
            </a:r>
            <a:endParaRPr lang="en-US" sz="1300" dirty="0"/>
          </a:p>
        </p:txBody>
      </p:sp>
      <p:sp>
        <p:nvSpPr>
          <p:cNvPr id="16" name="explica area"/>
          <p:cNvSpPr/>
          <p:nvPr/>
        </p:nvSpPr>
        <p:spPr>
          <a:xfrm>
            <a:off x="4663440" y="2560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ÁREA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443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partes expostas das faces das folhas cheias. Se o vizinho é parcial, descemos pelos quatro filhos encostados na face.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050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MESMOS NÚMEROS NA INTERFACE · ESCORT NA PROFUNDIDADE 7</a:t>
            </a:r>
            <a:endParaRPr lang="en-US" sz="900" dirty="0"/>
          </a:p>
        </p:txBody>
      </p:sp>
      <p:pic>
        <p:nvPicPr>
          <p:cNvPr id="20" name="cartoes da interface" descr="Cartões de volume, profundidade, células e área na inter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24528"/>
            <a:ext cx="8229600" cy="369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VISUALIZAÇÃO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Opções de renderização</a:t>
            </a:r>
            <a:endParaRPr lang="en-US" sz="2600" dirty="0"/>
          </a:p>
        </p:txBody>
      </p:sp>
      <p:sp>
        <p:nvSpPr>
          <p:cNvPr id="4" name="vista Aramado"/>
          <p:cNvSpPr/>
          <p:nvPr/>
        </p:nvSpPr>
        <p:spPr>
          <a:xfrm>
            <a:off x="457200" y="128016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5" name="Aramado" descr="Escort em Aram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468880" cy="17282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Aramado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arestas por folha cheia</a:t>
            </a:r>
            <a:endParaRPr lang="en-US" sz="1100" dirty="0"/>
          </a:p>
        </p:txBody>
      </p:sp>
      <p:sp>
        <p:nvSpPr>
          <p:cNvPr id="8" name="vista Sólido"/>
          <p:cNvSpPr/>
          <p:nvPr/>
        </p:nvSpPr>
        <p:spPr>
          <a:xfrm>
            <a:off x="3246120" y="128016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9" name="Sólido" descr="Escort em Sól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2468880" cy="17282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290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Sólido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expostas, tom por orientação</a:t>
            </a:r>
            <a:endParaRPr lang="en-US" sz="1100" dirty="0"/>
          </a:p>
        </p:txBody>
      </p:sp>
      <p:sp>
        <p:nvSpPr>
          <p:cNvPr id="12" name="vista Sólido + Phong"/>
          <p:cNvSpPr/>
          <p:nvPr/>
        </p:nvSpPr>
        <p:spPr>
          <a:xfrm>
            <a:off x="6035040" y="128016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13" name="Sólido + Phong" descr="Escort em Sólido + Pho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2468880" cy="17282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Sólido + Phong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21792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pontual, cor por vértice</a:t>
            </a:r>
            <a:endParaRPr lang="en-US" sz="1100" dirty="0"/>
          </a:p>
        </p:txBody>
      </p:sp>
      <p:sp>
        <p:nvSpPr>
          <p:cNvPr id="16" name="formula phong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F2B3B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ka + kd (N·L) + ks (R·V)ⁿ</a:t>
            </a:r>
            <a:pPr indent="0" marL="0">
              <a:buNone/>
            </a:pPr>
            <a:r>
              <a:rPr lang="en-US" sz="110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calculado na CPU e interpolado pelo OpenGL (Gouraud)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 DA OCTREE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Visualização da Octree</a:t>
            </a:r>
            <a:endParaRPr lang="en-US" sz="2600" dirty="0"/>
          </a:p>
        </p:txBody>
      </p:sp>
      <p:sp>
        <p:nvSpPr>
          <p:cNvPr id="4" name="quadro estrutura-foco"/>
          <p:cNvSpPr/>
          <p:nvPr/>
        </p:nvSpPr>
        <p:spPr>
          <a:xfrm>
            <a:off x="457200" y="1234440"/>
            <a:ext cx="5394960" cy="3337560"/>
          </a:xfrm>
          <a:prstGeom prst="roundRect">
            <a:avLst>
              <a:gd name="adj" fmla="val 2192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5" name="estrutura-foco" descr="estrutura-fo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24" y="1280160"/>
            <a:ext cx="4905712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0" y="128016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janela flutuante, aberta por um botão, mostra a árvore navegável, quantos nós B, W e ( existem em cada nível e as caixas de cada nó.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num nó enquadra a cena nele. Na imagem, o foco é o octante 1 da raiz.</a:t>
            </a:r>
            <a:endParaRPr lang="en-US" sz="1300" dirty="0"/>
          </a:p>
        </p:txBody>
      </p:sp>
      <p:sp>
        <p:nvSpPr>
          <p:cNvPr id="8" name="legenda parcial"/>
          <p:cNvSpPr/>
          <p:nvPr/>
        </p:nvSpPr>
        <p:spPr>
          <a:xfrm>
            <a:off x="6080760" y="3566160"/>
            <a:ext cx="128016" cy="128016"/>
          </a:xfrm>
          <a:prstGeom prst="rect">
            <a:avLst/>
          </a:prstGeom>
          <a:solidFill>
            <a:srgbClr val="F5B04A"/>
          </a:solidFill>
          <a:ln w="6350">
            <a:solidFill>
              <a:srgbClr val="F5B0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parcial</a:t>
            </a:r>
            <a:endParaRPr lang="en-US" sz="1100" dirty="0"/>
          </a:p>
        </p:txBody>
      </p:sp>
      <p:sp>
        <p:nvSpPr>
          <p:cNvPr id="10" name="legenda cheio"/>
          <p:cNvSpPr/>
          <p:nvPr/>
        </p:nvSpPr>
        <p:spPr>
          <a:xfrm>
            <a:off x="6080760" y="3858768"/>
            <a:ext cx="128016" cy="128016"/>
          </a:xfrm>
          <a:prstGeom prst="rect">
            <a:avLst/>
          </a:prstGeom>
          <a:solidFill>
            <a:srgbClr val="59CCFF"/>
          </a:solidFill>
          <a:ln w="6350">
            <a:solidFill>
              <a:srgbClr val="59CC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3813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cheio</a:t>
            </a:r>
            <a:endParaRPr lang="en-US" sz="1100" dirty="0"/>
          </a:p>
        </p:txBody>
      </p:sp>
      <p:sp>
        <p:nvSpPr>
          <p:cNvPr id="12" name="legenda vazio"/>
          <p:cNvSpPr/>
          <p:nvPr/>
        </p:nvSpPr>
        <p:spPr>
          <a:xfrm>
            <a:off x="6080760" y="4151376"/>
            <a:ext cx="128016" cy="128016"/>
          </a:xfrm>
          <a:prstGeom prst="rect">
            <a:avLst/>
          </a:prstGeom>
          <a:solidFill>
            <a:srgbClr val="5C708A"/>
          </a:solidFill>
          <a:ln w="6350">
            <a:solidFill>
              <a:srgbClr val="5C70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4105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vazio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ARQUIVO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Arquivos DF</a:t>
            </a:r>
            <a:endParaRPr lang="en-US" sz="2600" dirty="0"/>
          </a:p>
        </p:txBody>
      </p:sp>
      <p:sp>
        <p:nvSpPr>
          <p:cNvPr id="4" name="moldura painel arquivo"/>
          <p:cNvSpPr/>
          <p:nvPr/>
        </p:nvSpPr>
        <p:spPr>
          <a:xfrm>
            <a:off x="457200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5" name="aba arquivo" descr="Aba Arquivo do model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1965960" cy="31137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337560" y="128016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INÍCIO DE FORD-ESCORT-P7.DF · 8.281 SÍMBOLOS</a:t>
            </a:r>
            <a:endParaRPr lang="en-US" sz="900" dirty="0"/>
          </a:p>
        </p:txBody>
      </p:sp>
      <p:sp>
        <p:nvSpPr>
          <p:cNvPr id="7" name="trecho df"/>
          <p:cNvSpPr/>
          <p:nvPr/>
        </p:nvSpPr>
        <p:spPr>
          <a:xfrm>
            <a:off x="3337560" y="1536192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F2B3B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58191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((WWWWWW((WWWWWW(W(WWWBWWWBW(WBWBWBWBWWWWB((WWWWWWW(WWWBWWBB(WW(WWWBWWBB(WWBBWWBBWW(WWBBWWBB(WWBBWWBB(WWWWW(WBWBBBBBW…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69748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B, W e (. Sem cabeçalho, para trocar arquivos com os outros grupos.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recusa símbolo desconhecido, árvore incompleta e sobra no fim.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recusa árvore mais funda que a profundidade escolhida na interface.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por cima de um arquivo existente pede confirmação.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Ford Escort</a:t>
            </a:r>
            <a:endParaRPr lang="en-US" sz="2600" dirty="0"/>
          </a:p>
        </p:txBody>
      </p:sp>
      <p:sp>
        <p:nvSpPr>
          <p:cNvPr id="4" name="moldura escort"/>
          <p:cNvSpPr/>
          <p:nvPr/>
        </p:nvSpPr>
        <p:spPr>
          <a:xfrm>
            <a:off x="457200" y="1234440"/>
            <a:ext cx="5029200" cy="3337560"/>
          </a:xfrm>
          <a:prstGeom prst="roundRect">
            <a:avLst>
              <a:gd name="adj" fmla="val 2192"/>
            </a:avLst>
          </a:prstGeom>
          <a:solidFill>
            <a:srgbClr val="0E131C"/>
          </a:solidFill>
          <a:ln w="9525">
            <a:solidFill>
              <a:srgbClr val="293847"/>
            </a:solidFill>
            <a:prstDash val="solid"/>
          </a:ln>
        </p:spPr>
      </p:sp>
      <p:pic>
        <p:nvPicPr>
          <p:cNvPr id="5" name="Escort sólido" descr="Ford Escort em modo sól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457" y="1325880"/>
            <a:ext cx="4506686" cy="3154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0" y="12801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 inspirado no Escort Mk3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 com colunas A, B e C e janelas rebaixadas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Capô inclinado, caixas de roda e para-choques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rodas cilíndricas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3154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PROFUNDIDADE 7 · 64 CÉLULAS POR EIXO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429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 do último nível foi testada contra as peças do carro. Depois, oito filhos iguais viraram uma folha. O resultado é um arquivo DF comum, aberto pela aba Arquivo.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</a:t>
            </a:r>
            <a:endParaRPr lang="en-US" sz="2600" dirty="0"/>
          </a:p>
        </p:txBody>
      </p:sp>
      <p:sp>
        <p:nvSpPr>
          <p:cNvPr id="4" name="camada Interface"/>
          <p:cNvSpPr/>
          <p:nvPr/>
        </p:nvSpPr>
        <p:spPr>
          <a:xfrm>
            <a:off x="457200" y="128016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ImGui · painel e janela da estrutura</a:t>
            </a:r>
            <a:endParaRPr lang="en-US" sz="1100" dirty="0"/>
          </a:p>
        </p:txBody>
      </p:sp>
      <p:sp>
        <p:nvSpPr>
          <p:cNvPr id="7" name="camada Aplicação"/>
          <p:cNvSpPr/>
          <p:nvPr/>
        </p:nvSpPr>
        <p:spPr>
          <a:xfrm>
            <a:off x="457200" y="25146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Aplicação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TModelador · lista de modelos</a:t>
            </a:r>
            <a:endParaRPr lang="en-US" sz="1100" dirty="0"/>
          </a:p>
        </p:txBody>
      </p:sp>
      <p:sp>
        <p:nvSpPr>
          <p:cNvPr id="10" name="camada Núcleo"/>
          <p:cNvSpPr/>
          <p:nvPr/>
        </p:nvSpPr>
        <p:spPr>
          <a:xfrm>
            <a:off x="3566160" y="219456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Núcleo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TOctree e TNoOctree, classificadores, operações, volume, área, faces e Phong</a:t>
            </a:r>
            <a:endParaRPr lang="en-US" sz="1100" dirty="0"/>
          </a:p>
        </p:txBody>
      </p:sp>
      <p:sp>
        <p:nvSpPr>
          <p:cNvPr id="13" name="camada Persistência"/>
          <p:cNvSpPr/>
          <p:nvPr/>
        </p:nvSpPr>
        <p:spPr>
          <a:xfrm>
            <a:off x="6492240" y="128016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Persistência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TPersistenciaDF</a:t>
            </a:r>
            <a:endParaRPr lang="en-US" sz="1100" dirty="0"/>
          </a:p>
        </p:txBody>
      </p:sp>
      <p:sp>
        <p:nvSpPr>
          <p:cNvPr id="16" name="camada Renderização"/>
          <p:cNvSpPr/>
          <p:nvPr/>
        </p:nvSpPr>
        <p:spPr>
          <a:xfrm>
            <a:off x="6492240" y="25146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2624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Renderização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 · GL_LINES e faces</a:t>
            </a:r>
            <a:endParaRPr lang="en-US" sz="1100" dirty="0"/>
          </a:p>
        </p:txBody>
      </p:sp>
      <p:sp>
        <p:nvSpPr>
          <p:cNvPr id="19" name="camada Testes"/>
          <p:cNvSpPr/>
          <p:nvPr/>
        </p:nvSpPr>
        <p:spPr>
          <a:xfrm>
            <a:off x="6492240" y="374904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41C29"/>
          </a:solidFill>
          <a:ln w="9525">
            <a:solidFill>
              <a:srgbClr val="2938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GoogleTest · sem janela</a:t>
            </a:r>
            <a:endParaRPr lang="en-US" sz="1100" dirty="0"/>
          </a:p>
        </p:txBody>
      </p:sp>
      <p:sp>
        <p:nvSpPr>
          <p:cNvPr id="22" name="seta"/>
          <p:cNvSpPr/>
          <p:nvPr/>
        </p:nvSpPr>
        <p:spPr>
          <a:xfrm>
            <a:off x="1737360" y="2148840"/>
            <a:ext cx="0" cy="365760"/>
          </a:xfrm>
          <a:prstGeom prst="line">
            <a:avLst/>
          </a:prstGeom>
          <a:noFill/>
          <a:ln w="15875">
            <a:solidFill>
              <a:srgbClr val="5C708A"/>
            </a:solidFill>
            <a:prstDash val="solid"/>
            <a:tailEnd type="triangle"/>
          </a:ln>
        </p:spPr>
      </p:sp>
      <p:sp>
        <p:nvSpPr>
          <p:cNvPr id="23" name="seta"/>
          <p:cNvSpPr/>
          <p:nvPr/>
        </p:nvSpPr>
        <p:spPr>
          <a:xfrm>
            <a:off x="3017520" y="2926080"/>
            <a:ext cx="548640" cy="0"/>
          </a:xfrm>
          <a:prstGeom prst="line">
            <a:avLst/>
          </a:prstGeom>
          <a:noFill/>
          <a:ln w="15875">
            <a:solidFill>
              <a:srgbClr val="5C708A"/>
            </a:solidFill>
            <a:prstDash val="solid"/>
            <a:tailEnd type="triangle"/>
          </a:ln>
        </p:spPr>
      </p:sp>
      <p:sp>
        <p:nvSpPr>
          <p:cNvPr id="24" name="seta"/>
          <p:cNvSpPr/>
          <p:nvPr/>
        </p:nvSpPr>
        <p:spPr>
          <a:xfrm>
            <a:off x="6492240" y="1719072"/>
            <a:ext cx="-548640" cy="749808"/>
          </a:xfrm>
          <a:prstGeom prst="line">
            <a:avLst/>
          </a:prstGeom>
          <a:noFill/>
          <a:ln w="15875">
            <a:solidFill>
              <a:srgbClr val="5C708A"/>
            </a:solidFill>
            <a:prstDash val="solid"/>
            <a:tailEnd type="triangle"/>
          </a:ln>
        </p:spPr>
      </p:sp>
      <p:sp>
        <p:nvSpPr>
          <p:cNvPr id="25" name="seta"/>
          <p:cNvSpPr/>
          <p:nvPr/>
        </p:nvSpPr>
        <p:spPr>
          <a:xfrm>
            <a:off x="6492240" y="2944368"/>
            <a:ext cx="-548640" cy="0"/>
          </a:xfrm>
          <a:prstGeom prst="line">
            <a:avLst/>
          </a:prstGeom>
          <a:noFill/>
          <a:ln w="15875">
            <a:solidFill>
              <a:srgbClr val="5C708A"/>
            </a:solidFill>
            <a:prstDash val="solid"/>
            <a:tailEnd type="triangle"/>
          </a:ln>
        </p:spPr>
      </p:sp>
      <p:sp>
        <p:nvSpPr>
          <p:cNvPr id="26" name="seta"/>
          <p:cNvSpPr/>
          <p:nvPr/>
        </p:nvSpPr>
        <p:spPr>
          <a:xfrm>
            <a:off x="6492240" y="4160520"/>
            <a:ext cx="-548640" cy="-731520"/>
          </a:xfrm>
          <a:prstGeom prst="line">
            <a:avLst/>
          </a:prstGeom>
          <a:noFill/>
          <a:ln w="15875">
            <a:solidFill>
              <a:srgbClr val="5C708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57200" y="40233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C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C++17 · CMAKE · GLFW · OPENGL · DEAR IMGUI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708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D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 GEOMÉTRICA · UFC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Obrigado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Gabriel Lima Florindo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Ítalo de Almeida Campos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Henrique Moura da Silva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Vinicius Pereira Araujo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79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Melo Jucá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tree">
  <a:themeElements>
    <a:clrScheme name="Octree">
      <a:dk1>
        <a:srgbClr val="0E131C"/>
      </a:dk1>
      <a:lt1>
        <a:srgbClr val="E8F0F7"/>
      </a:lt1>
      <a:dk2>
        <a:srgbClr val="141C29"/>
      </a:dk2>
      <a:lt2>
        <a:srgbClr val="879CB3"/>
      </a:lt2>
      <a:accent1>
        <a:srgbClr val="5EDBE0"/>
      </a:accent1>
      <a:accent2>
        <a:srgbClr val="F5B04A"/>
      </a:accent2>
      <a:accent3>
        <a:srgbClr val="59CCFF"/>
      </a:accent3>
      <a:accent4>
        <a:srgbClr val="1A6370"/>
      </a:accent4>
      <a:accent5>
        <a:srgbClr val="5C708A"/>
      </a:accent5>
      <a:accent6>
        <a:srgbClr val="7ACFB8"/>
      </a:accent6>
      <a:hlink>
        <a:srgbClr val="5EDBE0"/>
      </a:hlink>
      <a:folHlink>
        <a:srgbClr val="879CB3"/>
      </a:folHlink>
    </a:clrScheme>
    <a:fontScheme name="Octre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Modelador de octrees</dc:title>
  <dc:subject>PptxGenJS Presentation</dc:subject>
  <dc:creator>Equipe do modelador de octrees</dc:creator>
  <cp:lastModifiedBy>Equipe do modelador de octrees</cp:lastModifiedBy>
  <cp:revision>1</cp:revision>
  <dcterms:created xsi:type="dcterms:W3CDTF">2026-10-04T18:11:28Z</dcterms:created>
  <dcterms:modified xsi:type="dcterms:W3CDTF">2026-10-04T18:11:28Z</dcterms:modified>
</cp:coreProperties>
</file>